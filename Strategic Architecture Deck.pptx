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7" r:id="rId4"/>
    <p:sldId id="268" r:id="rId5"/>
    <p:sldId id="258" r:id="rId6"/>
    <p:sldId id="259" r:id="rId7"/>
    <p:sldId id="260" r:id="rId8"/>
    <p:sldId id="261" r:id="rId9"/>
    <p:sldId id="266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16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493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7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78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7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0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1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4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2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4B674-2765-4A09-A07A-B087872163C6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493F4-D6ED-440C-83B4-E0708D597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9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9-6.svg"/><Relationship Id="rId7" Type="http://schemas.openxmlformats.org/officeDocument/2006/relationships/image" Target="../media/image-9-6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-9-2.svg"/><Relationship Id="rId4" Type="http://schemas.openxmlformats.org/officeDocument/2006/relationships/image" Target="../media/image-9-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291898" y="1937345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AI-Powered Smart Newsroom</a:t>
            </a:r>
            <a:endParaRPr lang="en-US" sz="3550" dirty="0"/>
          </a:p>
        </p:txBody>
      </p:sp>
      <p:sp>
        <p:nvSpPr>
          <p:cNvPr id="6" name="Text 1"/>
          <p:cNvSpPr/>
          <p:nvPr/>
        </p:nvSpPr>
        <p:spPr>
          <a:xfrm>
            <a:off x="5291898" y="3388916"/>
            <a:ext cx="617978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 smtClean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Youm7 </a:t>
            </a: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Media Group</a:t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Digital Transformation Strategy for Editorial, Fact-Checking, SEO Optimization &amp; Automated Publishing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5291898" y="4607917"/>
            <a:ext cx="5023717" cy="312638"/>
          </a:xfrm>
          <a:prstGeom prst="roundRect">
            <a:avLst>
              <a:gd name="adj" fmla="val 49999"/>
            </a:avLst>
          </a:prstGeom>
          <a:solidFill>
            <a:srgbClr val="4D4000"/>
          </a:solidFill>
          <a:ln/>
        </p:spPr>
      </p:sp>
      <p:sp>
        <p:nvSpPr>
          <p:cNvPr id="8" name="Text 3"/>
          <p:cNvSpPr/>
          <p:nvPr/>
        </p:nvSpPr>
        <p:spPr>
          <a:xfrm>
            <a:off x="5415323" y="4669631"/>
            <a:ext cx="538645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BOARD OF DIRECTORS &amp; EXECUTIVE EDITORIAL LEADERSHIP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42930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904702"/>
            <a:ext cx="5400675" cy="600967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904702"/>
            <a:ext cx="5400675" cy="600967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639020"/>
            <a:ext cx="5400675" cy="600967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639020"/>
            <a:ext cx="5400675" cy="600967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373338"/>
            <a:ext cx="5400675" cy="600967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3373338"/>
            <a:ext cx="5400675" cy="600967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107656"/>
            <a:ext cx="5400675" cy="600967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4107656"/>
            <a:ext cx="5400675" cy="600967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025" y="4841974"/>
            <a:ext cx="5400675" cy="600967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4841974"/>
            <a:ext cx="5400675" cy="600967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2062311"/>
            <a:ext cx="666750" cy="2857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2062311"/>
            <a:ext cx="695325" cy="2857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2796629"/>
            <a:ext cx="695325" cy="2857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1275" y="2796629"/>
            <a:ext cx="685800" cy="2857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3530947"/>
            <a:ext cx="695325" cy="2857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1275" y="3530947"/>
            <a:ext cx="695325" cy="2857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4265265"/>
            <a:ext cx="704850" cy="2857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91275" y="4265265"/>
            <a:ext cx="695325" cy="28575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4999583"/>
            <a:ext cx="695325" cy="28575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91275" y="4999583"/>
            <a:ext cx="666750" cy="28575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19151" y="489336"/>
            <a:ext cx="2838450" cy="1500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FACC15"/>
                </a:solidFill>
                <a:latin typeface="Plus Jakarta Sans"/>
              </a:rPr>
              <a:t>EXECUTIVE ENGAGEMENT SUMMARY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1025" y="714375"/>
            <a:ext cx="11581447" cy="434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F8FAFC"/>
                </a:solidFill>
                <a:latin typeface="Plus Jakarta Sans"/>
              </a:rPr>
              <a:t>Presentation </a:t>
            </a:r>
            <a:r>
              <a:rPr sz="2850" b="1" i="0" u="none">
                <a:solidFill>
                  <a:srgbClr val="FACC15"/>
                </a:solidFill>
                <a:latin typeface="Plus Jakarta Sans"/>
              </a:rPr>
              <a:t>Agenda &amp; Structure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1025" y="490537"/>
            <a:ext cx="161925" cy="142875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3262312" y="1914227"/>
            <a:ext cx="38100" cy="5819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891587" y="1914227"/>
            <a:ext cx="38100" cy="5819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262312" y="2648545"/>
            <a:ext cx="38100" cy="5819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891587" y="2648545"/>
            <a:ext cx="38100" cy="5819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262312" y="3382863"/>
            <a:ext cx="38100" cy="5819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891587" y="3382863"/>
            <a:ext cx="38100" cy="5819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262312" y="4117181"/>
            <a:ext cx="38100" cy="5819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891587" y="4117181"/>
            <a:ext cx="38100" cy="5819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262312" y="4851498"/>
            <a:ext cx="38100" cy="5819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891587" y="4851498"/>
            <a:ext cx="38100" cy="5819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581150" y="2028527"/>
            <a:ext cx="3370421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1F5F9"/>
                </a:solidFill>
                <a:latin typeface="Plus Jakarta Sans"/>
              </a:rPr>
              <a:t>Industry &amp; Organization Selection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581150" y="2233314"/>
            <a:ext cx="3209925" cy="144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170"/>
              </a:lnSpc>
            </a:pPr>
            <a:r>
              <a:rPr lang="en-US" sz="900" dirty="0" smtClean="0">
                <a:solidFill>
                  <a:srgbClr val="94A3B8"/>
                </a:solidFill>
                <a:latin typeface="Inter"/>
              </a:rPr>
              <a:t>Industry Selection, Business Challenge </a:t>
            </a:r>
            <a:r>
              <a:rPr lang="en-US" sz="900" dirty="0">
                <a:solidFill>
                  <a:srgbClr val="94A3B8"/>
                </a:solidFill>
                <a:latin typeface="Inter"/>
              </a:rPr>
              <a:t>&amp; Empirical Evidence</a:t>
            </a:r>
            <a:endParaRPr sz="900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239000" y="2028527"/>
            <a:ext cx="372046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1F5F9"/>
                </a:solidFill>
                <a:latin typeface="Plus Jakarta Sans"/>
              </a:rPr>
              <a:t>Conceptual Solution Architecture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39000" y="2233314"/>
            <a:ext cx="3543300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Multi-layer PaaS design, RAG engine &amp; Headless CMS integration.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09725" y="2762845"/>
            <a:ext cx="3550443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1F5F9"/>
                </a:solidFill>
                <a:latin typeface="Plus Jakarta Sans"/>
              </a:rPr>
              <a:t>Business Problem Diagnosis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09725" y="2967632"/>
            <a:ext cx="3381375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 dirty="0">
                <a:solidFill>
                  <a:srgbClr val="94A3B8"/>
                </a:solidFill>
                <a:latin typeface="Inter"/>
              </a:rPr>
              <a:t>5 Whys root cause analysis &amp; current-state workflow mapping.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29475" y="2762845"/>
            <a:ext cx="324040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1F5F9"/>
                </a:solidFill>
                <a:latin typeface="Plus Jakarta Sans"/>
              </a:rPr>
              <a:t>Business Case &amp; Financial Appraisal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9475" y="2967632"/>
            <a:ext cx="3086100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3-year TCO, ROI valuation &amp; payback period calculations.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09725" y="3497163"/>
            <a:ext cx="324040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1F5F9"/>
                </a:solidFill>
                <a:latin typeface="Plus Jakarta Sans"/>
              </a:rPr>
              <a:t>Technology Opportunity Exploration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09725" y="3701950"/>
            <a:ext cx="3086100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Evaluation of Digitize, Digitalize &amp; Transform approaches.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39000" y="3497163"/>
            <a:ext cx="3260407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1F5F9"/>
                </a:solidFill>
                <a:latin typeface="Plus Jakarta Sans"/>
              </a:rPr>
              <a:t>Phased Implementation Roadmap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39000" y="3701950"/>
            <a:ext cx="3105150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Structured 9-month rollout schedule &amp; milestone delivery.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19250" y="4231481"/>
            <a:ext cx="3390423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1F5F9"/>
                </a:solidFill>
                <a:latin typeface="Plus Jakarta Sans"/>
              </a:rPr>
              <a:t>Technology Fit Decision Matrix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19250" y="4436268"/>
            <a:ext cx="3228975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Weighted evaluation, trade-off analysis &amp; AI model sourcing.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39000" y="4231481"/>
            <a:ext cx="3430428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1F5F9"/>
                </a:solidFill>
                <a:latin typeface="Plus Jakarta Sans"/>
              </a:rPr>
              <a:t>Risk Management &amp; Ethical Governance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39000" y="4436268"/>
            <a:ext cx="3267075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Hallucination safeguards, data privacy &amp; policy drift controls.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09725" y="4965799"/>
            <a:ext cx="3370421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1F5F9"/>
                </a:solidFill>
                <a:latin typeface="Plus Jakarta Sans"/>
              </a:rPr>
              <a:t>Recommended Integrated Solution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09725" y="5170586"/>
            <a:ext cx="3209925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AI-Powered Smart Newsroom post-consolidation workflow.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10425" y="4965799"/>
            <a:ext cx="34004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1125" b="1" i="0" u="none">
                <a:solidFill>
                  <a:srgbClr val="F1F5F9"/>
                </a:solidFill>
                <a:latin typeface="Plus Jakarta Sans"/>
              </a:rPr>
              <a:t>Strategic KPI Performance Dashboard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10425" y="5170586"/>
            <a:ext cx="3238500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Executive performance scorecard &amp; business value metrics.</a:t>
            </a:r>
          </a:p>
        </p:txBody>
      </p:sp>
    </p:spTree>
    <p:extLst>
      <p:ext uri="{BB962C8B-B14F-4D97-AF65-F5344CB8AC3E}">
        <p14:creationId xmlns:p14="http://schemas.microsoft.com/office/powerpoint/2010/main" val="164013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2"/>
          <p:cNvSpPr/>
          <p:nvPr/>
        </p:nvSpPr>
        <p:spPr>
          <a:xfrm>
            <a:off x="502920" y="80579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FACC15"/>
                </a:solidFill>
                <a:latin typeface="Plus Jakarta Sans"/>
              </a:rPr>
              <a:t>Market Evidence &amp; Problem Validation</a:t>
            </a:r>
          </a:p>
        </p:txBody>
      </p:sp>
      <p:sp>
        <p:nvSpPr>
          <p:cNvPr id="53" name="Shape 4"/>
          <p:cNvSpPr/>
          <p:nvPr/>
        </p:nvSpPr>
        <p:spPr>
          <a:xfrm>
            <a:off x="502920" y="1908107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090E17"/>
          </a:solidFill>
          <a:ln w="19050">
            <a:solidFill>
              <a:srgbClr val="1A2333"/>
            </a:solidFill>
            <a:prstDash val="solid"/>
          </a:ln>
        </p:spPr>
      </p:sp>
      <p:sp>
        <p:nvSpPr>
          <p:cNvPr id="54" name="Text 5"/>
          <p:cNvSpPr/>
          <p:nvPr/>
        </p:nvSpPr>
        <p:spPr>
          <a:xfrm>
            <a:off x="731520" y="2136707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Search Volatility</a:t>
            </a:r>
            <a:endParaRPr lang="en-US" sz="1400" dirty="0"/>
          </a:p>
        </p:txBody>
      </p:sp>
      <p:sp>
        <p:nvSpPr>
          <p:cNvPr id="55" name="Shape 6"/>
          <p:cNvSpPr/>
          <p:nvPr/>
        </p:nvSpPr>
        <p:spPr>
          <a:xfrm>
            <a:off x="731520" y="2502467"/>
            <a:ext cx="3063240" cy="256032"/>
          </a:xfrm>
          <a:prstGeom prst="roundRect">
            <a:avLst>
              <a:gd name="adj" fmla="val 17857"/>
            </a:avLst>
          </a:prstGeom>
          <a:solidFill>
            <a:srgbClr val="1A1705"/>
          </a:solidFill>
          <a:ln w="6350">
            <a:solidFill>
              <a:srgbClr val="FACC15"/>
            </a:solidFill>
            <a:prstDash val="solid"/>
          </a:ln>
        </p:spPr>
      </p:sp>
      <p:sp>
        <p:nvSpPr>
          <p:cNvPr id="56" name="Text 7"/>
          <p:cNvSpPr/>
          <p:nvPr/>
        </p:nvSpPr>
        <p:spPr>
          <a:xfrm>
            <a:off x="777240" y="2502467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ACC15"/>
                </a:solidFill>
              </a:rPr>
              <a:t>Google Search Central &amp; Similarweb</a:t>
            </a:r>
            <a:endParaRPr lang="en-US" sz="850" dirty="0"/>
          </a:p>
        </p:txBody>
      </p:sp>
      <p:sp>
        <p:nvSpPr>
          <p:cNvPr id="57" name="Text 8"/>
          <p:cNvSpPr/>
          <p:nvPr/>
        </p:nvSpPr>
        <p:spPr>
          <a:xfrm>
            <a:off x="731520" y="2868227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D1D5DB"/>
                </a:solidFill>
              </a:rPr>
              <a:t>Helpful Content and Core Web Vitals algorithms heavily penalize latency. Breaking news that exceeds the 10-minute threshold loses Google carousel visibility to digital aggregators.</a:t>
            </a:r>
            <a:endParaRPr lang="en-US" sz="1200" dirty="0"/>
          </a:p>
        </p:txBody>
      </p:sp>
      <p:sp>
        <p:nvSpPr>
          <p:cNvPr id="58" name="Shape 9"/>
          <p:cNvSpPr/>
          <p:nvPr/>
        </p:nvSpPr>
        <p:spPr>
          <a:xfrm>
            <a:off x="731520" y="5199947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 w="12700">
            <a:solidFill>
              <a:srgbClr val="1A2333"/>
            </a:solidFill>
            <a:prstDash val="solid"/>
          </a:ln>
        </p:spPr>
      </p:sp>
      <p:sp>
        <p:nvSpPr>
          <p:cNvPr id="59" name="Text 10"/>
          <p:cNvSpPr/>
          <p:nvPr/>
        </p:nvSpPr>
        <p:spPr>
          <a:xfrm>
            <a:off x="822960" y="5199947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7185"/>
                </a:solidFill>
              </a:rPr>
              <a:t>-65%</a:t>
            </a:r>
            <a:endParaRPr lang="en-US" sz="2200" dirty="0"/>
          </a:p>
        </p:txBody>
      </p:sp>
      <p:sp>
        <p:nvSpPr>
          <p:cNvPr id="60" name="Text 11"/>
          <p:cNvSpPr/>
          <p:nvPr/>
        </p:nvSpPr>
        <p:spPr>
          <a:xfrm>
            <a:off x="2011680" y="5199947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E9BB0"/>
                </a:solidFill>
              </a:rPr>
              <a:t>ORGANIC REACH LOSS</a:t>
            </a:r>
            <a:endParaRPr lang="en-US" sz="750" dirty="0"/>
          </a:p>
          <a:p>
            <a:pPr marL="0" indent="0" algn="r">
              <a:buNone/>
            </a:pPr>
            <a:r>
              <a:rPr lang="en-US" sz="750" b="1" dirty="0">
                <a:solidFill>
                  <a:srgbClr val="8E9BB0"/>
                </a:solidFill>
              </a:rPr>
              <a:t>(DELAY &gt;15 MIN)</a:t>
            </a:r>
            <a:endParaRPr lang="en-US" sz="750" dirty="0"/>
          </a:p>
        </p:txBody>
      </p:sp>
      <p:sp>
        <p:nvSpPr>
          <p:cNvPr id="61" name="Shape 12"/>
          <p:cNvSpPr/>
          <p:nvPr/>
        </p:nvSpPr>
        <p:spPr>
          <a:xfrm>
            <a:off x="4297680" y="1908107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090E17"/>
          </a:solidFill>
          <a:ln w="19050">
            <a:solidFill>
              <a:srgbClr val="1A2333"/>
            </a:solidFill>
            <a:prstDash val="solid"/>
          </a:ln>
        </p:spPr>
      </p:sp>
      <p:sp>
        <p:nvSpPr>
          <p:cNvPr id="62" name="Text 13"/>
          <p:cNvSpPr/>
          <p:nvPr/>
        </p:nvSpPr>
        <p:spPr>
          <a:xfrm>
            <a:off x="4526280" y="2136707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Editorial Drag</a:t>
            </a:r>
            <a:endParaRPr lang="en-US" sz="1400" dirty="0"/>
          </a:p>
        </p:txBody>
      </p:sp>
      <p:sp>
        <p:nvSpPr>
          <p:cNvPr id="63" name="Shape 14"/>
          <p:cNvSpPr/>
          <p:nvPr/>
        </p:nvSpPr>
        <p:spPr>
          <a:xfrm>
            <a:off x="4526280" y="2502467"/>
            <a:ext cx="3063240" cy="256032"/>
          </a:xfrm>
          <a:prstGeom prst="roundRect">
            <a:avLst>
              <a:gd name="adj" fmla="val 17857"/>
            </a:avLst>
          </a:prstGeom>
          <a:solidFill>
            <a:srgbClr val="1A1705"/>
          </a:solidFill>
          <a:ln w="6350">
            <a:solidFill>
              <a:srgbClr val="FACC15"/>
            </a:solidFill>
            <a:prstDash val="solid"/>
          </a:ln>
        </p:spPr>
      </p:sp>
      <p:sp>
        <p:nvSpPr>
          <p:cNvPr id="64" name="Text 15"/>
          <p:cNvSpPr/>
          <p:nvPr/>
        </p:nvSpPr>
        <p:spPr>
          <a:xfrm>
            <a:off x="4572000" y="2502467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ACC15"/>
                </a:solidFill>
              </a:rPr>
              <a:t>WAN-IFRA Newsroom Report</a:t>
            </a:r>
            <a:endParaRPr lang="en-US" sz="850" dirty="0"/>
          </a:p>
        </p:txBody>
      </p:sp>
      <p:sp>
        <p:nvSpPr>
          <p:cNvPr id="65" name="Text 16"/>
          <p:cNvSpPr/>
          <p:nvPr/>
        </p:nvSpPr>
        <p:spPr>
          <a:xfrm>
            <a:off x="4526280" y="2868227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D1D5DB"/>
                </a:solidFill>
              </a:rPr>
              <a:t>Senior editorial capacity is drained by manual syntax fixes, disconnected metadata tagging, and fragmented drafts, creating structural bottlenecks across the central review desk.</a:t>
            </a:r>
            <a:endParaRPr lang="en-US" sz="1200" dirty="0"/>
          </a:p>
        </p:txBody>
      </p:sp>
      <p:sp>
        <p:nvSpPr>
          <p:cNvPr id="66" name="Shape 17"/>
          <p:cNvSpPr/>
          <p:nvPr/>
        </p:nvSpPr>
        <p:spPr>
          <a:xfrm>
            <a:off x="4526280" y="5199947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 w="12700">
            <a:solidFill>
              <a:srgbClr val="1A2333"/>
            </a:solidFill>
            <a:prstDash val="solid"/>
          </a:ln>
        </p:spPr>
      </p:sp>
      <p:sp>
        <p:nvSpPr>
          <p:cNvPr id="67" name="Text 18"/>
          <p:cNvSpPr/>
          <p:nvPr/>
        </p:nvSpPr>
        <p:spPr>
          <a:xfrm>
            <a:off x="4617720" y="5199947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CC15"/>
                </a:solidFill>
              </a:rPr>
              <a:t>&gt;60%</a:t>
            </a:r>
            <a:endParaRPr lang="en-US" sz="2200" dirty="0"/>
          </a:p>
        </p:txBody>
      </p:sp>
      <p:sp>
        <p:nvSpPr>
          <p:cNvPr id="68" name="Text 19"/>
          <p:cNvSpPr/>
          <p:nvPr/>
        </p:nvSpPr>
        <p:spPr>
          <a:xfrm>
            <a:off x="5806440" y="5199947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E9BB0"/>
                </a:solidFill>
              </a:rPr>
              <a:t>SENIOR BANDWIDTH SUNK</a:t>
            </a:r>
            <a:endParaRPr lang="en-US" sz="750" dirty="0"/>
          </a:p>
          <a:p>
            <a:pPr marL="0" indent="0" algn="r">
              <a:buNone/>
            </a:pPr>
            <a:r>
              <a:rPr lang="en-US" sz="750" b="1" dirty="0">
                <a:solidFill>
                  <a:srgbClr val="8E9BB0"/>
                </a:solidFill>
              </a:rPr>
              <a:t>IN ROUTINE QA</a:t>
            </a:r>
            <a:endParaRPr lang="en-US" sz="750" dirty="0"/>
          </a:p>
        </p:txBody>
      </p:sp>
      <p:sp>
        <p:nvSpPr>
          <p:cNvPr id="69" name="Shape 20"/>
          <p:cNvSpPr/>
          <p:nvPr/>
        </p:nvSpPr>
        <p:spPr>
          <a:xfrm>
            <a:off x="8092440" y="1908107"/>
            <a:ext cx="3520440" cy="4389120"/>
          </a:xfrm>
          <a:prstGeom prst="roundRect">
            <a:avLst>
              <a:gd name="adj" fmla="val 2597"/>
            </a:avLst>
          </a:prstGeom>
          <a:solidFill>
            <a:srgbClr val="090E17"/>
          </a:solidFill>
          <a:ln w="19050">
            <a:solidFill>
              <a:srgbClr val="1A2333"/>
            </a:solidFill>
            <a:prstDash val="solid"/>
          </a:ln>
        </p:spPr>
      </p:sp>
      <p:sp>
        <p:nvSpPr>
          <p:cNvPr id="70" name="Text 21"/>
          <p:cNvSpPr/>
          <p:nvPr/>
        </p:nvSpPr>
        <p:spPr>
          <a:xfrm>
            <a:off x="8321040" y="2136707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Scale Pressure</a:t>
            </a:r>
            <a:endParaRPr lang="en-US" sz="1400" dirty="0"/>
          </a:p>
        </p:txBody>
      </p:sp>
      <p:sp>
        <p:nvSpPr>
          <p:cNvPr id="71" name="Shape 22"/>
          <p:cNvSpPr/>
          <p:nvPr/>
        </p:nvSpPr>
        <p:spPr>
          <a:xfrm>
            <a:off x="8321040" y="2502467"/>
            <a:ext cx="3063240" cy="256032"/>
          </a:xfrm>
          <a:prstGeom prst="roundRect">
            <a:avLst>
              <a:gd name="adj" fmla="val 17857"/>
            </a:avLst>
          </a:prstGeom>
          <a:solidFill>
            <a:srgbClr val="1A1705"/>
          </a:solidFill>
          <a:ln w="6350">
            <a:solidFill>
              <a:srgbClr val="FACC15"/>
            </a:solidFill>
            <a:prstDash val="solid"/>
          </a:ln>
        </p:spPr>
      </p:sp>
      <p:sp>
        <p:nvSpPr>
          <p:cNvPr id="72" name="Text 23"/>
          <p:cNvSpPr/>
          <p:nvPr/>
        </p:nvSpPr>
        <p:spPr>
          <a:xfrm>
            <a:off x="8366760" y="2502467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ACC15"/>
                </a:solidFill>
              </a:rPr>
              <a:t>Reuters Institute Digital Report</a:t>
            </a:r>
            <a:endParaRPr lang="en-US" sz="850" dirty="0"/>
          </a:p>
        </p:txBody>
      </p:sp>
      <p:sp>
        <p:nvSpPr>
          <p:cNvPr id="73" name="Text 24"/>
          <p:cNvSpPr/>
          <p:nvPr/>
        </p:nvSpPr>
        <p:spPr>
          <a:xfrm>
            <a:off x="8321040" y="2868227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D1D5DB"/>
                </a:solidFill>
              </a:rPr>
              <a:t>High-volume digital publishing requires instant speed-to-notify and high factual integrity. Manual workflows fail to scale under the daily load of breaking national coverage.</a:t>
            </a:r>
            <a:endParaRPr lang="en-US" sz="1200" dirty="0"/>
          </a:p>
        </p:txBody>
      </p:sp>
      <p:sp>
        <p:nvSpPr>
          <p:cNvPr id="74" name="Shape 25"/>
          <p:cNvSpPr/>
          <p:nvPr/>
        </p:nvSpPr>
        <p:spPr>
          <a:xfrm>
            <a:off x="8321040" y="5199947"/>
            <a:ext cx="3063240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 w="12700">
            <a:solidFill>
              <a:srgbClr val="1A2333"/>
            </a:solidFill>
            <a:prstDash val="solid"/>
          </a:ln>
        </p:spPr>
      </p:sp>
      <p:sp>
        <p:nvSpPr>
          <p:cNvPr id="75" name="Text 26"/>
          <p:cNvSpPr/>
          <p:nvPr/>
        </p:nvSpPr>
        <p:spPr>
          <a:xfrm>
            <a:off x="8412480" y="5199947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</a:rPr>
              <a:t>600+</a:t>
            </a:r>
            <a:endParaRPr lang="en-US" sz="2200" dirty="0"/>
          </a:p>
        </p:txBody>
      </p:sp>
      <p:sp>
        <p:nvSpPr>
          <p:cNvPr id="76" name="Text 27"/>
          <p:cNvSpPr/>
          <p:nvPr/>
        </p:nvSpPr>
        <p:spPr>
          <a:xfrm>
            <a:off x="9601200" y="5199947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8E9BB0"/>
                </a:solidFill>
              </a:rPr>
              <a:t>DAILY ARTICLES</a:t>
            </a:r>
            <a:endParaRPr lang="en-US" sz="750" dirty="0"/>
          </a:p>
          <a:p>
            <a:pPr marL="0" indent="0" algn="r">
              <a:buNone/>
            </a:pPr>
            <a:r>
              <a:rPr lang="en-US" sz="750" b="1" dirty="0">
                <a:solidFill>
                  <a:srgbClr val="8E9BB0"/>
                </a:solidFill>
              </a:rPr>
              <a:t>CENTRAL DESK LOAD</a:t>
            </a:r>
            <a:endParaRPr lang="en-US" sz="750" dirty="0"/>
          </a:p>
        </p:txBody>
      </p:sp>
      <p:sp>
        <p:nvSpPr>
          <p:cNvPr id="79" name="Text 3"/>
          <p:cNvSpPr/>
          <p:nvPr/>
        </p:nvSpPr>
        <p:spPr>
          <a:xfrm>
            <a:off x="502920" y="1469195"/>
            <a:ext cx="5486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Empirical telemetry demonstrating systemic revenue loss, publishing drag, and scale exposure.</a:t>
            </a:r>
          </a:p>
        </p:txBody>
      </p:sp>
      <p:sp>
        <p:nvSpPr>
          <p:cNvPr id="33" name="Shape 0"/>
          <p:cNvSpPr/>
          <p:nvPr/>
        </p:nvSpPr>
        <p:spPr>
          <a:xfrm>
            <a:off x="590317" y="304946"/>
            <a:ext cx="4038600" cy="38576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E14D"/>
            </a:solidFill>
            <a:prstDash val="solid"/>
          </a:ln>
        </p:spPr>
      </p:sp>
      <p:sp>
        <p:nvSpPr>
          <p:cNvPr id="34" name="Text 1"/>
          <p:cNvSpPr/>
          <p:nvPr/>
        </p:nvSpPr>
        <p:spPr>
          <a:xfrm>
            <a:off x="706003" y="401685"/>
            <a:ext cx="3820277" cy="231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20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PART 1: INDUSTRY, CHALLENGE &amp; EVIDENCE</a:t>
            </a:r>
          </a:p>
        </p:txBody>
      </p:sp>
    </p:spTree>
    <p:extLst>
      <p:ext uri="{BB962C8B-B14F-4D97-AF65-F5344CB8AC3E}">
        <p14:creationId xmlns:p14="http://schemas.microsoft.com/office/powerpoint/2010/main" val="3364397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2"/>
          <p:cNvSpPr/>
          <p:nvPr/>
        </p:nvSpPr>
        <p:spPr>
          <a:xfrm>
            <a:off x="720012" y="799604"/>
            <a:ext cx="10751670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The Challenge: Speed, Accuracy &amp; Visibility</a:t>
            </a:r>
            <a:endParaRPr lang="en-US" sz="3350" dirty="0"/>
          </a:p>
        </p:txBody>
      </p:sp>
      <p:sp>
        <p:nvSpPr>
          <p:cNvPr id="12" name="Text 3"/>
          <p:cNvSpPr/>
          <p:nvPr/>
        </p:nvSpPr>
        <p:spPr>
          <a:xfrm>
            <a:off x="720012" y="1616195"/>
            <a:ext cx="10751670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Youm7 </a:t>
            </a: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Media Group — a leading MENA digital news platform publishing </a:t>
            </a:r>
            <a:r>
              <a:rPr lang="en-US" sz="15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600+ pieces daily</a:t>
            </a: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faces critical operational bottlenecks in verification, SEO, and editorial quality.</a:t>
            </a:r>
            <a:endParaRPr lang="en-US" sz="1500" dirty="0"/>
          </a:p>
        </p:txBody>
      </p:sp>
      <p:sp>
        <p:nvSpPr>
          <p:cNvPr id="13" name="Text 4"/>
          <p:cNvSpPr/>
          <p:nvPr/>
        </p:nvSpPr>
        <p:spPr>
          <a:xfrm>
            <a:off x="720012" y="2691209"/>
            <a:ext cx="5262828" cy="63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180min</a:t>
            </a:r>
            <a:endParaRPr lang="en-US" sz="5000" dirty="0"/>
          </a:p>
        </p:txBody>
      </p:sp>
      <p:sp>
        <p:nvSpPr>
          <p:cNvPr id="14" name="Text 5"/>
          <p:cNvSpPr/>
          <p:nvPr/>
        </p:nvSpPr>
        <p:spPr>
          <a:xfrm>
            <a:off x="720012" y="3559671"/>
            <a:ext cx="526282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Time-to-Publish</a:t>
            </a:r>
            <a:endParaRPr lang="en-US" sz="1650" dirty="0"/>
          </a:p>
        </p:txBody>
      </p:sp>
      <p:sp>
        <p:nvSpPr>
          <p:cNvPr id="15" name="Text 6"/>
          <p:cNvSpPr/>
          <p:nvPr/>
        </p:nvSpPr>
        <p:spPr>
          <a:xfrm>
            <a:off x="720012" y="3936008"/>
            <a:ext cx="5262828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Manual cycle; target: under 40 min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6208855" y="2691209"/>
            <a:ext cx="5262828" cy="63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42%</a:t>
            </a:r>
            <a:endParaRPr lang="en-US" sz="5000" dirty="0"/>
          </a:p>
        </p:txBody>
      </p:sp>
      <p:sp>
        <p:nvSpPr>
          <p:cNvPr id="17" name="Text 8"/>
          <p:cNvSpPr/>
          <p:nvPr/>
        </p:nvSpPr>
        <p:spPr>
          <a:xfrm>
            <a:off x="6208855" y="3559671"/>
            <a:ext cx="526282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SEO Failure Rate</a:t>
            </a:r>
            <a:endParaRPr lang="en-US" sz="1650" dirty="0"/>
          </a:p>
        </p:txBody>
      </p:sp>
      <p:sp>
        <p:nvSpPr>
          <p:cNvPr id="18" name="Text 9"/>
          <p:cNvSpPr/>
          <p:nvPr/>
        </p:nvSpPr>
        <p:spPr>
          <a:xfrm>
            <a:off x="6208855" y="3936008"/>
            <a:ext cx="5262828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Articles failing to rank on Google</a:t>
            </a:r>
            <a:endParaRPr lang="en-US" sz="1500" dirty="0"/>
          </a:p>
        </p:txBody>
      </p:sp>
      <p:sp>
        <p:nvSpPr>
          <p:cNvPr id="19" name="Text 10"/>
          <p:cNvSpPr/>
          <p:nvPr/>
        </p:nvSpPr>
        <p:spPr>
          <a:xfrm>
            <a:off x="720012" y="4693047"/>
            <a:ext cx="5262828" cy="63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18%</a:t>
            </a:r>
            <a:endParaRPr lang="en-US" sz="5000" dirty="0"/>
          </a:p>
        </p:txBody>
      </p:sp>
      <p:sp>
        <p:nvSpPr>
          <p:cNvPr id="20" name="Text 11"/>
          <p:cNvSpPr/>
          <p:nvPr/>
        </p:nvSpPr>
        <p:spPr>
          <a:xfrm>
            <a:off x="720012" y="5561509"/>
            <a:ext cx="526282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Post-Publication Errors</a:t>
            </a:r>
            <a:endParaRPr lang="en-US" sz="1650" dirty="0"/>
          </a:p>
        </p:txBody>
      </p:sp>
      <p:sp>
        <p:nvSpPr>
          <p:cNvPr id="21" name="Text 12"/>
          <p:cNvSpPr/>
          <p:nvPr/>
        </p:nvSpPr>
        <p:spPr>
          <a:xfrm>
            <a:off x="720012" y="5937845"/>
            <a:ext cx="5262828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Articles requiring post-hoc revisions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6208855" y="4693047"/>
            <a:ext cx="5262828" cy="63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0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65%</a:t>
            </a:r>
            <a:endParaRPr lang="en-US" sz="5000" dirty="0"/>
          </a:p>
        </p:txBody>
      </p:sp>
      <p:sp>
        <p:nvSpPr>
          <p:cNvPr id="23" name="Text 14"/>
          <p:cNvSpPr/>
          <p:nvPr/>
        </p:nvSpPr>
        <p:spPr>
          <a:xfrm>
            <a:off x="6208855" y="5561509"/>
            <a:ext cx="5262828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Readership Loss</a:t>
            </a:r>
            <a:endParaRPr lang="en-US" sz="1650" dirty="0"/>
          </a:p>
        </p:txBody>
      </p:sp>
      <p:sp>
        <p:nvSpPr>
          <p:cNvPr id="24" name="Text 15"/>
          <p:cNvSpPr/>
          <p:nvPr/>
        </p:nvSpPr>
        <p:spPr>
          <a:xfrm>
            <a:off x="6208855" y="5937845"/>
            <a:ext cx="5262828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5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When breaking news is delayed 15+ min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8970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Article queue backlogs &amp; fragmented draft versioning.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738758"/>
            <a:ext cx="5381625" cy="387965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738758"/>
            <a:ext cx="5381625" cy="3879651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434083"/>
            <a:ext cx="2395537" cy="95622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987" y="2434083"/>
            <a:ext cx="2395537" cy="95622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504604"/>
            <a:ext cx="2395537" cy="95622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7" y="3504604"/>
            <a:ext cx="2395537" cy="95622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5" y="2434083"/>
            <a:ext cx="4905375" cy="708421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3237755"/>
            <a:ext cx="4905375" cy="55423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3887241"/>
            <a:ext cx="4905375" cy="708421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4690913"/>
            <a:ext cx="4905375" cy="70842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1025" y="714375"/>
            <a:ext cx="11581447" cy="434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1" i="0" u="none">
                <a:solidFill>
                  <a:srgbClr val="F8FAFC"/>
                </a:solidFill>
                <a:latin typeface="Plus Jakarta Sans"/>
              </a:rPr>
              <a:t>Root Cause Analysis &amp; </a:t>
            </a:r>
            <a:r>
              <a:rPr sz="2850" b="1" i="0" u="none">
                <a:solidFill>
                  <a:srgbClr val="FACC15"/>
                </a:solidFill>
                <a:latin typeface="Plus Jakarta Sans"/>
              </a:rPr>
              <a:t>Stakeholder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4900" y="1968258"/>
            <a:ext cx="461962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 u="none" dirty="0">
                <a:solidFill>
                  <a:srgbClr val="FACC15"/>
                </a:solidFill>
                <a:latin typeface="Plus Jakarta Sans"/>
              </a:rPr>
              <a:t>Root Cause Breakdown </a:t>
            </a:r>
            <a:r>
              <a:rPr sz="1350" b="1" i="0" u="none" dirty="0" smtClean="0">
                <a:solidFill>
                  <a:srgbClr val="FACC15"/>
                </a:solidFill>
                <a:latin typeface="Plus Jakarta Sans"/>
              </a:rPr>
              <a:t>(</a:t>
            </a:r>
            <a:r>
              <a:rPr lang="en-US" sz="1350" b="1" i="0" u="none" dirty="0" smtClean="0">
                <a:solidFill>
                  <a:srgbClr val="FACC15"/>
                </a:solidFill>
                <a:latin typeface="Plus Jakarta Sans"/>
              </a:rPr>
              <a:t>F</a:t>
            </a:r>
            <a:r>
              <a:rPr lang="en-US" sz="1350" b="1" dirty="0" smtClean="0">
                <a:solidFill>
                  <a:srgbClr val="FACC15"/>
                </a:solidFill>
                <a:latin typeface="Plus Jakarta Sans"/>
              </a:rPr>
              <a:t>ishbone &gt; </a:t>
            </a:r>
            <a:r>
              <a:rPr sz="1350" b="1" i="0" u="none" dirty="0" smtClean="0">
                <a:solidFill>
                  <a:srgbClr val="FACC15"/>
                </a:solidFill>
                <a:latin typeface="Plus Jakarta Sans"/>
              </a:rPr>
              <a:t>5 </a:t>
            </a:r>
            <a:r>
              <a:rPr sz="1350" b="1" i="0" u="none" dirty="0">
                <a:solidFill>
                  <a:srgbClr val="FACC15"/>
                </a:solidFill>
                <a:latin typeface="Plus Jakarta Sans"/>
              </a:rPr>
              <a:t>Whys)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9150" y="2272158"/>
            <a:ext cx="4905375" cy="95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81800" y="1957833"/>
            <a:ext cx="45910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ACC15"/>
                </a:solidFill>
                <a:latin typeface="Plus Jakarta Sans"/>
              </a:rPr>
              <a:t>Stakeholder Impact Analysis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67475" y="2272158"/>
            <a:ext cx="4905375" cy="9525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1981646"/>
            <a:ext cx="190500" cy="1714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1981646"/>
            <a:ext cx="219075" cy="17145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209675" y="2557908"/>
            <a:ext cx="1862137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Process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025" y="2786508"/>
            <a:ext cx="210978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Article queue backlogs &amp; fragmented draft versioning across disconnected files.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19512" y="2557908"/>
            <a:ext cx="1862137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 dirty="0">
                <a:solidFill>
                  <a:srgbClr val="F1F5F9"/>
                </a:solidFill>
                <a:latin typeface="Plus Jakarta Sans"/>
              </a:rPr>
              <a:t>Technology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1862" y="2786508"/>
            <a:ext cx="210978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 dirty="0">
                <a:solidFill>
                  <a:srgbClr val="94A3B8"/>
                </a:solidFill>
                <a:latin typeface="Inter"/>
              </a:rPr>
              <a:t>Isolated legacy word processors completely disconnected from the primary CMS.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2525" y="3628429"/>
            <a:ext cx="1919287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2025" y="3857029"/>
            <a:ext cx="210978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Lack of automated semantic linking with archives &amp; real-time analytics engines.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19512" y="3628429"/>
            <a:ext cx="1862137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People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1862" y="3857029"/>
            <a:ext cx="210978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Senior editorial bandwidth drained by routine copyediting &amp; basic grammar fixes.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2538858"/>
            <a:ext cx="304800" cy="3048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3342530"/>
            <a:ext cx="304800" cy="3048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3992016"/>
            <a:ext cx="304800" cy="3048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4795688"/>
            <a:ext cx="304800" cy="3048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025" y="2576958"/>
            <a:ext cx="171450" cy="1333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1862" y="2576958"/>
            <a:ext cx="171450" cy="1333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025" y="3647479"/>
            <a:ext cx="114300" cy="1333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71862" y="3647479"/>
            <a:ext cx="171450" cy="1333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15125" y="2624583"/>
            <a:ext cx="133350" cy="13335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048500" y="2538858"/>
            <a:ext cx="4181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Reporters &amp; Correspondents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8500" y="2729358"/>
            <a:ext cx="4181475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Delayed publishing &amp; zero visibility into draft modifications during editorial review.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15125" y="3428255"/>
            <a:ext cx="133350" cy="13335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048500" y="3342530"/>
            <a:ext cx="4057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Desk &amp; Copy Editors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8500" y="3533030"/>
            <a:ext cx="4057650" cy="154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Relentless workload pressure &amp; cognitive fatigue under tight shift deadlines.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15125" y="4077741"/>
            <a:ext cx="133350" cy="1333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048500" y="3992016"/>
            <a:ext cx="4181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SEO &amp; Marketing Leaders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48500" y="4182516"/>
            <a:ext cx="4181475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Ongoing friction enforcing search engine compliance across manual editorial workflows.</a:t>
            </a:r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15125" y="4881413"/>
            <a:ext cx="133350" cy="1333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048500" y="4795688"/>
            <a:ext cx="4181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1F5F9"/>
                </a:solidFill>
                <a:latin typeface="Plus Jakarta Sans"/>
              </a:rPr>
              <a:t>Board of Directors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8500" y="4986188"/>
            <a:ext cx="4181475" cy="308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Direct revenue losses stemming from diminished organic traffic &amp; lost breaking scoops.</a:t>
            </a:r>
          </a:p>
        </p:txBody>
      </p:sp>
      <p:sp>
        <p:nvSpPr>
          <p:cNvPr id="76" name="Shape 0"/>
          <p:cNvSpPr/>
          <p:nvPr/>
        </p:nvSpPr>
        <p:spPr>
          <a:xfrm>
            <a:off x="552119" y="275493"/>
            <a:ext cx="2662568" cy="29309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E14D"/>
            </a:solidFill>
            <a:prstDash val="solid"/>
          </a:ln>
        </p:spPr>
      </p:sp>
      <p:sp>
        <p:nvSpPr>
          <p:cNvPr id="77" name="Text 1"/>
          <p:cNvSpPr/>
          <p:nvPr/>
        </p:nvSpPr>
        <p:spPr>
          <a:xfrm>
            <a:off x="667806" y="333338"/>
            <a:ext cx="3040780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20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PART </a:t>
            </a:r>
            <a:r>
              <a:rPr lang="ar-EG" sz="1200" dirty="0" smtClean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2</a:t>
            </a:r>
            <a:r>
              <a:rPr lang="en-US" sz="1200" dirty="0" smtClean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</a:t>
            </a:r>
            <a:r>
              <a:rPr lang="en-US" sz="120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ROOT CAUSE ANALYSIS</a:t>
            </a:r>
            <a:endParaRPr lang="en-US" sz="1200" dirty="0"/>
          </a:p>
          <a:p>
            <a:pPr marL="0" indent="0" algn="l">
              <a:lnSpc>
                <a:spcPct val="9600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8945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/>
          <p:cNvSpPr/>
          <p:nvPr/>
        </p:nvSpPr>
        <p:spPr>
          <a:xfrm>
            <a:off x="720012" y="1477467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Three Paths Forward</a:t>
            </a:r>
            <a:endParaRPr lang="en-US" sz="35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12" y="2463304"/>
            <a:ext cx="1979166" cy="1223169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720012" y="3943648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Digitize</a:t>
            </a:r>
            <a:endParaRPr lang="en-US" sz="1750" dirty="0"/>
          </a:p>
        </p:txBody>
      </p:sp>
      <p:sp>
        <p:nvSpPr>
          <p:cNvPr id="13" name="Text 4"/>
          <p:cNvSpPr/>
          <p:nvPr/>
        </p:nvSpPr>
        <p:spPr>
          <a:xfrm>
            <a:off x="720012" y="4352826"/>
            <a:ext cx="341244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Automate review cycle as-is. Reduces handover latency by </a:t>
            </a: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25%</a:t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but cognitive burden stays on editors.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625" y="2463304"/>
            <a:ext cx="1979166" cy="1223169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4389625" y="3943648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Digitalization</a:t>
            </a:r>
            <a:endParaRPr lang="en-US" sz="1750" dirty="0"/>
          </a:p>
        </p:txBody>
      </p:sp>
      <p:sp>
        <p:nvSpPr>
          <p:cNvPr id="16" name="Text 6"/>
          <p:cNvSpPr/>
          <p:nvPr/>
        </p:nvSpPr>
        <p:spPr>
          <a:xfrm>
            <a:off x="4389625" y="4352826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Upgrade tools (Grammarly, etc.). Cuts errors by </a:t>
            </a: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30%</a:t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but lacks news context or SEO automation.</a:t>
            </a:r>
            <a:endParaRPr lang="en-US" sz="16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9238" y="2463304"/>
            <a:ext cx="1979166" cy="1223169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8059238" y="3943648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Digital Transformation</a:t>
            </a:r>
            <a:endParaRPr lang="en-US" sz="1750" dirty="0"/>
          </a:p>
        </p:txBody>
      </p:sp>
      <p:sp>
        <p:nvSpPr>
          <p:cNvPr id="19" name="Text 8"/>
          <p:cNvSpPr/>
          <p:nvPr/>
        </p:nvSpPr>
        <p:spPr>
          <a:xfrm>
            <a:off x="8059238" y="4352826"/>
            <a:ext cx="341244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AI-augmented platform. Reduces lead time </a:t>
            </a: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65%</a:t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 doubles SEO efficiency, boosts productivity </a:t>
            </a:r>
            <a:r>
              <a:rPr lang="en-US" sz="16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50%+</a:t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0"/>
          <p:cNvSpPr/>
          <p:nvPr/>
        </p:nvSpPr>
        <p:spPr>
          <a:xfrm>
            <a:off x="626706" y="637837"/>
            <a:ext cx="2727356" cy="312638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E14D"/>
            </a:solidFill>
            <a:prstDash val="solid"/>
          </a:ln>
        </p:spPr>
      </p:sp>
      <p:sp>
        <p:nvSpPr>
          <p:cNvPr id="21" name="Text 1"/>
          <p:cNvSpPr/>
          <p:nvPr/>
        </p:nvSpPr>
        <p:spPr>
          <a:xfrm>
            <a:off x="750131" y="699551"/>
            <a:ext cx="309009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PART </a:t>
            </a:r>
            <a:r>
              <a:rPr lang="ar-EG" sz="1250" dirty="0" smtClean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3</a:t>
            </a:r>
            <a:r>
              <a:rPr lang="en-US" sz="1250" dirty="0" smtClean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</a:t>
            </a:r>
            <a:r>
              <a:rPr lang="en-US" sz="12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TECHNOLOGY OPTIONS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491583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"/>
          <p:cNvSpPr/>
          <p:nvPr/>
        </p:nvSpPr>
        <p:spPr>
          <a:xfrm>
            <a:off x="720012" y="1012428"/>
            <a:ext cx="10751670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AI-Augmented Platform: The Clear Winner</a:t>
            </a:r>
            <a:endParaRPr lang="en-US" sz="34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12" y="2072878"/>
            <a:ext cx="5132755" cy="3694609"/>
          </a:xfrm>
          <a:prstGeom prst="rect">
            <a:avLst/>
          </a:prstGeom>
        </p:spPr>
      </p:pic>
      <p:sp>
        <p:nvSpPr>
          <p:cNvPr id="24" name="Text 3"/>
          <p:cNvSpPr/>
          <p:nvPr/>
        </p:nvSpPr>
        <p:spPr>
          <a:xfrm>
            <a:off x="6345277" y="2048768"/>
            <a:ext cx="513275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Why Option 3 Wins</a:t>
            </a:r>
            <a:endParaRPr lang="en-US" sz="1700" dirty="0"/>
          </a:p>
        </p:txBody>
      </p:sp>
      <p:sp>
        <p:nvSpPr>
          <p:cNvPr id="25" name="Text 4"/>
          <p:cNvSpPr/>
          <p:nvPr/>
        </p:nvSpPr>
        <p:spPr>
          <a:xfrm>
            <a:off x="6345277" y="2518668"/>
            <a:ext cx="5132755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Scoring </a:t>
            </a:r>
            <a:r>
              <a:rPr lang="en-US" sz="15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78%</a:t>
            </a: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across 10 weighted criteria, the AI-Augmented Platform is the sole solution capable of transforming publishing lead time, SEO benchmarks, and digital revenue.</a:t>
            </a:r>
            <a:endParaRPr lang="en-US" sz="1550" dirty="0"/>
          </a:p>
        </p:txBody>
      </p:sp>
      <p:sp>
        <p:nvSpPr>
          <p:cNvPr id="26" name="Shape 5"/>
          <p:cNvSpPr/>
          <p:nvPr/>
        </p:nvSpPr>
        <p:spPr>
          <a:xfrm>
            <a:off x="6345277" y="3991570"/>
            <a:ext cx="5132755" cy="2016720"/>
          </a:xfrm>
          <a:prstGeom prst="roundRect">
            <a:avLst>
              <a:gd name="adj" fmla="val 14824"/>
            </a:avLst>
          </a:prstGeom>
          <a:solidFill>
            <a:srgbClr val="806A00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503" y="4282380"/>
            <a:ext cx="249132" cy="199231"/>
          </a:xfrm>
          <a:prstGeom prst="rect">
            <a:avLst/>
          </a:prstGeom>
        </p:spPr>
      </p:pic>
      <p:sp>
        <p:nvSpPr>
          <p:cNvPr id="28" name="Text 6"/>
          <p:cNvSpPr/>
          <p:nvPr/>
        </p:nvSpPr>
        <p:spPr>
          <a:xfrm>
            <a:off x="6992862" y="4215110"/>
            <a:ext cx="4285944" cy="156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Recommended AI Sourcing:</a:t>
            </a:r>
            <a:r>
              <a:rPr lang="en-US" sz="15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Open-source fine-tuning on bilingual foundation models — optimal ROI with zero third-party token costs. Deployed via PaaS (Azure AI / AWS SageMaker) for full data control.</a:t>
            </a:r>
            <a:endParaRPr lang="en-US" sz="1550" dirty="0"/>
          </a:p>
        </p:txBody>
      </p:sp>
      <p:sp>
        <p:nvSpPr>
          <p:cNvPr id="29" name="Shape 0"/>
          <p:cNvSpPr/>
          <p:nvPr/>
        </p:nvSpPr>
        <p:spPr>
          <a:xfrm>
            <a:off x="720012" y="529729"/>
            <a:ext cx="1823992" cy="302816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E14D"/>
            </a:solidFill>
            <a:prstDash val="solid"/>
          </a:ln>
        </p:spPr>
      </p:sp>
      <p:sp>
        <p:nvSpPr>
          <p:cNvPr id="30" name="Text 1"/>
          <p:cNvSpPr/>
          <p:nvPr/>
        </p:nvSpPr>
        <p:spPr>
          <a:xfrm>
            <a:off x="839568" y="589459"/>
            <a:ext cx="2194465" cy="183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PART </a:t>
            </a:r>
            <a:r>
              <a:rPr lang="ar-EG" sz="1250" dirty="0" smtClean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4</a:t>
            </a:r>
            <a:r>
              <a:rPr lang="en-US" sz="1250" dirty="0" smtClean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</a:t>
            </a:r>
            <a:r>
              <a:rPr lang="en-US" sz="12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EVALUATION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907748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2"/>
          <p:cNvSpPr/>
          <p:nvPr/>
        </p:nvSpPr>
        <p:spPr>
          <a:xfrm>
            <a:off x="720012" y="895747"/>
            <a:ext cx="10751670" cy="464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Post-Consolidation Operating Structure</a:t>
            </a:r>
            <a:endParaRPr lang="en-US" sz="2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271" y="1563787"/>
            <a:ext cx="8361054" cy="3826669"/>
          </a:xfrm>
          <a:prstGeom prst="rect">
            <a:avLst/>
          </a:prstGeom>
        </p:spPr>
      </p:pic>
      <p:sp>
        <p:nvSpPr>
          <p:cNvPr id="15" name="Text 3"/>
          <p:cNvSpPr/>
          <p:nvPr/>
        </p:nvSpPr>
        <p:spPr>
          <a:xfrm>
            <a:off x="8317364" y="4364144"/>
            <a:ext cx="1569723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Section Head</a:t>
            </a:r>
            <a:endParaRPr lang="en-US" sz="1650" dirty="0"/>
          </a:p>
        </p:txBody>
      </p:sp>
      <p:sp>
        <p:nvSpPr>
          <p:cNvPr id="16" name="Text 4"/>
          <p:cNvSpPr/>
          <p:nvPr/>
        </p:nvSpPr>
        <p:spPr>
          <a:xfrm>
            <a:off x="6302411" y="4376204"/>
            <a:ext cx="1569723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Desk Editor</a:t>
            </a:r>
            <a:endParaRPr lang="en-US" sz="1650" dirty="0"/>
          </a:p>
        </p:txBody>
      </p:sp>
      <p:sp>
        <p:nvSpPr>
          <p:cNvPr id="17" name="Text 5"/>
          <p:cNvSpPr/>
          <p:nvPr/>
        </p:nvSpPr>
        <p:spPr>
          <a:xfrm>
            <a:off x="4371554" y="4364144"/>
            <a:ext cx="1569723" cy="268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AI Engine</a:t>
            </a:r>
            <a:endParaRPr lang="en-US" sz="1650" dirty="0"/>
          </a:p>
        </p:txBody>
      </p:sp>
      <p:sp>
        <p:nvSpPr>
          <p:cNvPr id="18" name="Text 6"/>
          <p:cNvSpPr/>
          <p:nvPr/>
        </p:nvSpPr>
        <p:spPr>
          <a:xfrm>
            <a:off x="2361019" y="4364144"/>
            <a:ext cx="1569723" cy="53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Field Reporter</a:t>
            </a:r>
            <a:endParaRPr lang="en-US" sz="1650" dirty="0"/>
          </a:p>
        </p:txBody>
      </p:sp>
      <p:sp>
        <p:nvSpPr>
          <p:cNvPr id="19" name="Text 7"/>
          <p:cNvSpPr/>
          <p:nvPr/>
        </p:nvSpPr>
        <p:spPr>
          <a:xfrm>
            <a:off x="720012" y="5543252"/>
            <a:ext cx="10751670" cy="727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Human-in-the-Loop is enforced at every stage — </a:t>
            </a:r>
            <a:r>
              <a:rPr lang="en-US" sz="13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no AI suggestion reaches production without explicit editorial approval.</a:t>
            </a:r>
            <a:r>
              <a:rPr lang="en-US" sz="13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Architecture layers: Presentation (Editorial UI), Orchestration (Workflow Engine + API Gateway), AI &amp; RAG Engine (Domain-Adapted LLMs + Vector DB), and Integration (Headless CMS Connector).</a:t>
            </a:r>
            <a:endParaRPr lang="en-US" sz="1300" dirty="0"/>
          </a:p>
        </p:txBody>
      </p:sp>
      <p:sp>
        <p:nvSpPr>
          <p:cNvPr id="29" name="Shape 0"/>
          <p:cNvSpPr/>
          <p:nvPr/>
        </p:nvSpPr>
        <p:spPr>
          <a:xfrm>
            <a:off x="720012" y="470644"/>
            <a:ext cx="2172478" cy="272307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E14D"/>
            </a:solidFill>
            <a:prstDash val="solid"/>
          </a:ln>
        </p:spPr>
      </p:sp>
      <p:sp>
        <p:nvSpPr>
          <p:cNvPr id="30" name="Text 1"/>
          <p:cNvSpPr/>
          <p:nvPr/>
        </p:nvSpPr>
        <p:spPr>
          <a:xfrm>
            <a:off x="820221" y="539057"/>
            <a:ext cx="2356386" cy="153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PARTS </a:t>
            </a:r>
            <a:r>
              <a:rPr lang="ar-EG" sz="1050" dirty="0" smtClean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sz="1050" dirty="0" smtClean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5 - 6: </a:t>
            </a:r>
            <a:r>
              <a:rPr lang="en-US" sz="10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ARCHITECTURE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89947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/>
          <p:cNvSpPr/>
          <p:nvPr/>
        </p:nvSpPr>
        <p:spPr>
          <a:xfrm>
            <a:off x="720012" y="1032867"/>
            <a:ext cx="10751670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AI-Augmented Editorial Workspace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463" y="1920999"/>
            <a:ext cx="8403878" cy="4371857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720011" y="476444"/>
            <a:ext cx="1276739" cy="313953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E14D"/>
            </a:solidFill>
            <a:prstDash val="solid"/>
          </a:ln>
        </p:spPr>
      </p:sp>
      <p:sp>
        <p:nvSpPr>
          <p:cNvPr id="12" name="Text 1"/>
          <p:cNvSpPr/>
          <p:nvPr/>
        </p:nvSpPr>
        <p:spPr>
          <a:xfrm>
            <a:off x="829945" y="559837"/>
            <a:ext cx="970863" cy="175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b="1" dirty="0" smtClean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PROTO TYPE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2440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"/>
          <p:cNvSpPr/>
          <p:nvPr/>
        </p:nvSpPr>
        <p:spPr>
          <a:xfrm>
            <a:off x="720012" y="844252"/>
            <a:ext cx="10751670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3-Year Investment Appraisal</a:t>
            </a:r>
            <a:endParaRPr lang="en-US" sz="25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12" y="1533922"/>
            <a:ext cx="5195460" cy="3739753"/>
          </a:xfrm>
          <a:prstGeom prst="rect">
            <a:avLst/>
          </a:prstGeom>
        </p:spPr>
      </p:pic>
      <p:sp>
        <p:nvSpPr>
          <p:cNvPr id="24" name="Text 3"/>
          <p:cNvSpPr/>
          <p:nvPr/>
        </p:nvSpPr>
        <p:spPr>
          <a:xfrm>
            <a:off x="6282573" y="1510010"/>
            <a:ext cx="519546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Payback period: </a:t>
            </a:r>
            <a:r>
              <a:rPr lang="en-US" sz="11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13.75 months</a:t>
            </a: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(Q1 Year 2). Savings driven by editorial labor efficiency ($116K) and SEO-driven ad revenue ($89K) over 3 years.</a:t>
            </a:r>
            <a:endParaRPr lang="en-US" sz="1150" dirty="0"/>
          </a:p>
        </p:txBody>
      </p:sp>
      <p:sp>
        <p:nvSpPr>
          <p:cNvPr id="25" name="Shape 4"/>
          <p:cNvSpPr/>
          <p:nvPr/>
        </p:nvSpPr>
        <p:spPr>
          <a:xfrm>
            <a:off x="720012" y="5512792"/>
            <a:ext cx="2608197" cy="767953"/>
          </a:xfrm>
          <a:prstGeom prst="roundRect">
            <a:avLst>
              <a:gd name="adj" fmla="val 28883"/>
            </a:avLst>
          </a:prstGeom>
          <a:solidFill>
            <a:srgbClr val="46464A"/>
          </a:solidFill>
          <a:ln/>
        </p:spPr>
      </p:sp>
      <p:sp>
        <p:nvSpPr>
          <p:cNvPr id="26" name="Text 5"/>
          <p:cNvSpPr/>
          <p:nvPr/>
        </p:nvSpPr>
        <p:spPr>
          <a:xfrm>
            <a:off x="867845" y="5660628"/>
            <a:ext cx="231253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3-Year TCO</a:t>
            </a:r>
            <a:endParaRPr lang="en-US" sz="1250" dirty="0"/>
          </a:p>
        </p:txBody>
      </p:sp>
      <p:sp>
        <p:nvSpPr>
          <p:cNvPr id="27" name="Text 6"/>
          <p:cNvSpPr/>
          <p:nvPr/>
        </p:nvSpPr>
        <p:spPr>
          <a:xfrm>
            <a:off x="867845" y="5929709"/>
            <a:ext cx="231253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$86,000</a:t>
            </a:r>
            <a:endParaRPr lang="en-US" sz="1150" dirty="0"/>
          </a:p>
        </p:txBody>
      </p:sp>
      <p:sp>
        <p:nvSpPr>
          <p:cNvPr id="28" name="Shape 7"/>
          <p:cNvSpPr/>
          <p:nvPr/>
        </p:nvSpPr>
        <p:spPr>
          <a:xfrm>
            <a:off x="3434470" y="5512792"/>
            <a:ext cx="2608197" cy="767953"/>
          </a:xfrm>
          <a:prstGeom prst="roundRect">
            <a:avLst>
              <a:gd name="adj" fmla="val 28883"/>
            </a:avLst>
          </a:prstGeom>
          <a:solidFill>
            <a:srgbClr val="46464A"/>
          </a:solidFill>
          <a:ln/>
        </p:spPr>
      </p:sp>
      <p:sp>
        <p:nvSpPr>
          <p:cNvPr id="29" name="Text 8"/>
          <p:cNvSpPr/>
          <p:nvPr/>
        </p:nvSpPr>
        <p:spPr>
          <a:xfrm>
            <a:off x="3582303" y="5660628"/>
            <a:ext cx="231253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Total Benefits</a:t>
            </a:r>
            <a:endParaRPr lang="en-US" sz="1250" dirty="0"/>
          </a:p>
        </p:txBody>
      </p:sp>
      <p:sp>
        <p:nvSpPr>
          <p:cNvPr id="30" name="Text 9"/>
          <p:cNvSpPr/>
          <p:nvPr/>
        </p:nvSpPr>
        <p:spPr>
          <a:xfrm>
            <a:off x="3582303" y="5929709"/>
            <a:ext cx="231253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$205,000</a:t>
            </a:r>
            <a:endParaRPr lang="en-US" sz="1150" dirty="0"/>
          </a:p>
        </p:txBody>
      </p:sp>
      <p:sp>
        <p:nvSpPr>
          <p:cNvPr id="31" name="Shape 10"/>
          <p:cNvSpPr/>
          <p:nvPr/>
        </p:nvSpPr>
        <p:spPr>
          <a:xfrm>
            <a:off x="6148928" y="5512792"/>
            <a:ext cx="2608197" cy="767953"/>
          </a:xfrm>
          <a:prstGeom prst="roundRect">
            <a:avLst>
              <a:gd name="adj" fmla="val 28883"/>
            </a:avLst>
          </a:prstGeom>
          <a:solidFill>
            <a:srgbClr val="46464A"/>
          </a:solidFill>
          <a:ln/>
        </p:spPr>
      </p:sp>
      <p:sp>
        <p:nvSpPr>
          <p:cNvPr id="32" name="Text 11"/>
          <p:cNvSpPr/>
          <p:nvPr/>
        </p:nvSpPr>
        <p:spPr>
          <a:xfrm>
            <a:off x="6296760" y="5660628"/>
            <a:ext cx="231253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Net Benefit</a:t>
            </a:r>
            <a:endParaRPr lang="en-US" sz="1250" dirty="0"/>
          </a:p>
        </p:txBody>
      </p:sp>
      <p:sp>
        <p:nvSpPr>
          <p:cNvPr id="33" name="Text 12"/>
          <p:cNvSpPr/>
          <p:nvPr/>
        </p:nvSpPr>
        <p:spPr>
          <a:xfrm>
            <a:off x="6296760" y="5929709"/>
            <a:ext cx="231253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+$119,000</a:t>
            </a:r>
            <a:endParaRPr lang="en-US" sz="1150" dirty="0"/>
          </a:p>
        </p:txBody>
      </p:sp>
      <p:sp>
        <p:nvSpPr>
          <p:cNvPr id="34" name="Shape 13"/>
          <p:cNvSpPr/>
          <p:nvPr/>
        </p:nvSpPr>
        <p:spPr>
          <a:xfrm>
            <a:off x="8863386" y="5512792"/>
            <a:ext cx="2608296" cy="767953"/>
          </a:xfrm>
          <a:prstGeom prst="roundRect">
            <a:avLst>
              <a:gd name="adj" fmla="val 28883"/>
            </a:avLst>
          </a:prstGeom>
          <a:solidFill>
            <a:srgbClr val="46464A"/>
          </a:solidFill>
          <a:ln/>
        </p:spPr>
      </p:sp>
      <p:sp>
        <p:nvSpPr>
          <p:cNvPr id="35" name="Text 14"/>
          <p:cNvSpPr/>
          <p:nvPr/>
        </p:nvSpPr>
        <p:spPr>
          <a:xfrm>
            <a:off x="9011218" y="5660628"/>
            <a:ext cx="231263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ROI</a:t>
            </a:r>
            <a:endParaRPr lang="en-US" sz="1250" dirty="0"/>
          </a:p>
        </p:txBody>
      </p:sp>
      <p:sp>
        <p:nvSpPr>
          <p:cNvPr id="36" name="Text 15"/>
          <p:cNvSpPr/>
          <p:nvPr/>
        </p:nvSpPr>
        <p:spPr>
          <a:xfrm>
            <a:off x="9011218" y="5929709"/>
            <a:ext cx="231263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138.4%</a:t>
            </a:r>
            <a:endParaRPr lang="en-US" sz="1150" dirty="0"/>
          </a:p>
        </p:txBody>
      </p:sp>
      <p:sp>
        <p:nvSpPr>
          <p:cNvPr id="37" name="Shape 0"/>
          <p:cNvSpPr/>
          <p:nvPr/>
        </p:nvSpPr>
        <p:spPr>
          <a:xfrm>
            <a:off x="720012" y="453032"/>
            <a:ext cx="1312532" cy="224631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E14D"/>
            </a:solidFill>
            <a:prstDash val="solid"/>
          </a:ln>
        </p:spPr>
      </p:sp>
      <p:sp>
        <p:nvSpPr>
          <p:cNvPr id="38" name="Text 1"/>
          <p:cNvSpPr/>
          <p:nvPr/>
        </p:nvSpPr>
        <p:spPr>
          <a:xfrm>
            <a:off x="808712" y="497383"/>
            <a:ext cx="1744718" cy="135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PART </a:t>
            </a:r>
            <a:r>
              <a:rPr lang="en-US" sz="900" dirty="0" smtClean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7: </a:t>
            </a:r>
            <a:r>
              <a:rPr lang="en-US" sz="90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FINANCIALS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52300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2"/>
          <p:cNvSpPr/>
          <p:nvPr/>
        </p:nvSpPr>
        <p:spPr>
          <a:xfrm>
            <a:off x="720012" y="952302"/>
            <a:ext cx="10751670" cy="51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Phased Implementation: 9-Month Rollout</a:t>
            </a:r>
            <a:endParaRPr lang="en-US" sz="3250" dirty="0"/>
          </a:p>
        </p:txBody>
      </p:sp>
      <p:sp>
        <p:nvSpPr>
          <p:cNvPr id="39" name="Shape 3"/>
          <p:cNvSpPr/>
          <p:nvPr/>
        </p:nvSpPr>
        <p:spPr>
          <a:xfrm>
            <a:off x="6083148" y="1723628"/>
            <a:ext cx="25399" cy="4532709"/>
          </a:xfrm>
          <a:prstGeom prst="roundRect">
            <a:avLst>
              <a:gd name="adj" fmla="val 50001"/>
            </a:avLst>
          </a:prstGeom>
          <a:solidFill>
            <a:srgbClr val="5F5F63"/>
          </a:solidFill>
          <a:ln/>
        </p:spPr>
      </p:sp>
      <p:sp>
        <p:nvSpPr>
          <p:cNvPr id="40" name="Shape 4"/>
          <p:cNvSpPr/>
          <p:nvPr/>
        </p:nvSpPr>
        <p:spPr>
          <a:xfrm>
            <a:off x="5352222" y="1920677"/>
            <a:ext cx="559282" cy="25400"/>
          </a:xfrm>
          <a:prstGeom prst="roundRect">
            <a:avLst>
              <a:gd name="adj" fmla="val 49999"/>
            </a:avLst>
          </a:prstGeom>
          <a:solidFill>
            <a:srgbClr val="5F5F63"/>
          </a:solidFill>
          <a:ln/>
        </p:spPr>
      </p:sp>
      <p:sp>
        <p:nvSpPr>
          <p:cNvPr id="41" name="Shape 5"/>
          <p:cNvSpPr/>
          <p:nvPr/>
        </p:nvSpPr>
        <p:spPr>
          <a:xfrm>
            <a:off x="5886104" y="1723628"/>
            <a:ext cx="419486" cy="419497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42" name="Text 6"/>
          <p:cNvSpPr/>
          <p:nvPr/>
        </p:nvSpPr>
        <p:spPr>
          <a:xfrm>
            <a:off x="5971579" y="1778050"/>
            <a:ext cx="248537" cy="310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1950" dirty="0"/>
          </a:p>
        </p:txBody>
      </p:sp>
      <p:sp>
        <p:nvSpPr>
          <p:cNvPr id="43" name="Text 7"/>
          <p:cNvSpPr/>
          <p:nvPr/>
        </p:nvSpPr>
        <p:spPr>
          <a:xfrm>
            <a:off x="720012" y="1787624"/>
            <a:ext cx="444359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Phase 1 · Months 1–2</a:t>
            </a:r>
            <a:endParaRPr lang="en-US" sz="1600" dirty="0"/>
          </a:p>
        </p:txBody>
      </p:sp>
      <p:sp>
        <p:nvSpPr>
          <p:cNvPr id="44" name="Text 8"/>
          <p:cNvSpPr/>
          <p:nvPr/>
        </p:nvSpPr>
        <p:spPr>
          <a:xfrm>
            <a:off x="720012" y="2147888"/>
            <a:ext cx="4443599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Provision PaaS cloud, cleanse historical archives, select and benchmark open-source foundation model.</a:t>
            </a:r>
            <a:endParaRPr lang="en-US" sz="1450" dirty="0"/>
          </a:p>
        </p:txBody>
      </p:sp>
      <p:sp>
        <p:nvSpPr>
          <p:cNvPr id="45" name="Shape 9"/>
          <p:cNvSpPr/>
          <p:nvPr/>
        </p:nvSpPr>
        <p:spPr>
          <a:xfrm>
            <a:off x="6280191" y="3004344"/>
            <a:ext cx="559282" cy="25400"/>
          </a:xfrm>
          <a:prstGeom prst="roundRect">
            <a:avLst>
              <a:gd name="adj" fmla="val 49999"/>
            </a:avLst>
          </a:prstGeom>
          <a:solidFill>
            <a:srgbClr val="5F5F63"/>
          </a:solidFill>
          <a:ln/>
        </p:spPr>
      </p:sp>
      <p:sp>
        <p:nvSpPr>
          <p:cNvPr id="46" name="Shape 10"/>
          <p:cNvSpPr/>
          <p:nvPr/>
        </p:nvSpPr>
        <p:spPr>
          <a:xfrm>
            <a:off x="5886104" y="2807295"/>
            <a:ext cx="419486" cy="419497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47" name="Text 11"/>
          <p:cNvSpPr/>
          <p:nvPr/>
        </p:nvSpPr>
        <p:spPr>
          <a:xfrm>
            <a:off x="5971579" y="2861717"/>
            <a:ext cx="248537" cy="310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1950" dirty="0"/>
          </a:p>
        </p:txBody>
      </p:sp>
      <p:sp>
        <p:nvSpPr>
          <p:cNvPr id="48" name="Text 12"/>
          <p:cNvSpPr/>
          <p:nvPr/>
        </p:nvSpPr>
        <p:spPr>
          <a:xfrm>
            <a:off x="7028084" y="2871291"/>
            <a:ext cx="444359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Phase 2 · Months 3–4</a:t>
            </a:r>
            <a:endParaRPr lang="en-US" sz="1600" dirty="0"/>
          </a:p>
        </p:txBody>
      </p:sp>
      <p:sp>
        <p:nvSpPr>
          <p:cNvPr id="49" name="Text 13"/>
          <p:cNvSpPr/>
          <p:nvPr/>
        </p:nvSpPr>
        <p:spPr>
          <a:xfrm>
            <a:off x="7028084" y="3231555"/>
            <a:ext cx="4443599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Fine-tune LLM on newsroom style and SEO taxonomies; build rich-text editor with AI side-panel.</a:t>
            </a:r>
            <a:endParaRPr lang="en-US" sz="1450" dirty="0"/>
          </a:p>
        </p:txBody>
      </p:sp>
      <p:sp>
        <p:nvSpPr>
          <p:cNvPr id="50" name="Shape 14"/>
          <p:cNvSpPr/>
          <p:nvPr/>
        </p:nvSpPr>
        <p:spPr>
          <a:xfrm>
            <a:off x="5352222" y="3951089"/>
            <a:ext cx="559282" cy="25400"/>
          </a:xfrm>
          <a:prstGeom prst="roundRect">
            <a:avLst>
              <a:gd name="adj" fmla="val 49999"/>
            </a:avLst>
          </a:prstGeom>
          <a:solidFill>
            <a:srgbClr val="5F5F63"/>
          </a:solidFill>
          <a:ln/>
        </p:spPr>
      </p:sp>
      <p:sp>
        <p:nvSpPr>
          <p:cNvPr id="51" name="Shape 15"/>
          <p:cNvSpPr/>
          <p:nvPr/>
        </p:nvSpPr>
        <p:spPr>
          <a:xfrm>
            <a:off x="5886104" y="3754041"/>
            <a:ext cx="419486" cy="419497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52" name="Text 16"/>
          <p:cNvSpPr/>
          <p:nvPr/>
        </p:nvSpPr>
        <p:spPr>
          <a:xfrm>
            <a:off x="5971579" y="3808462"/>
            <a:ext cx="248537" cy="310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1950" dirty="0"/>
          </a:p>
        </p:txBody>
      </p:sp>
      <p:sp>
        <p:nvSpPr>
          <p:cNvPr id="53" name="Text 17"/>
          <p:cNvSpPr/>
          <p:nvPr/>
        </p:nvSpPr>
        <p:spPr>
          <a:xfrm>
            <a:off x="720012" y="3818037"/>
            <a:ext cx="444359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Phase 3 · Months 5–6</a:t>
            </a:r>
            <a:endParaRPr lang="en-US" sz="1600" dirty="0"/>
          </a:p>
        </p:txBody>
      </p:sp>
      <p:sp>
        <p:nvSpPr>
          <p:cNvPr id="54" name="Text 18"/>
          <p:cNvSpPr/>
          <p:nvPr/>
        </p:nvSpPr>
        <p:spPr>
          <a:xfrm>
            <a:off x="720012" y="4178300"/>
            <a:ext cx="4443599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Connect to Headless CMS via secured APIs; launch single-section pilot; validate hallucination guardrails.</a:t>
            </a:r>
            <a:endParaRPr lang="en-US" sz="1450" dirty="0"/>
          </a:p>
        </p:txBody>
      </p:sp>
      <p:sp>
        <p:nvSpPr>
          <p:cNvPr id="55" name="Shape 19"/>
          <p:cNvSpPr/>
          <p:nvPr/>
        </p:nvSpPr>
        <p:spPr>
          <a:xfrm>
            <a:off x="6280191" y="4897834"/>
            <a:ext cx="559282" cy="25400"/>
          </a:xfrm>
          <a:prstGeom prst="roundRect">
            <a:avLst>
              <a:gd name="adj" fmla="val 49999"/>
            </a:avLst>
          </a:prstGeom>
          <a:solidFill>
            <a:srgbClr val="5F5F63"/>
          </a:solidFill>
          <a:ln/>
        </p:spPr>
      </p:sp>
      <p:sp>
        <p:nvSpPr>
          <p:cNvPr id="56" name="Shape 20"/>
          <p:cNvSpPr/>
          <p:nvPr/>
        </p:nvSpPr>
        <p:spPr>
          <a:xfrm>
            <a:off x="5886104" y="4700786"/>
            <a:ext cx="419486" cy="419497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57" name="Text 21"/>
          <p:cNvSpPr/>
          <p:nvPr/>
        </p:nvSpPr>
        <p:spPr>
          <a:xfrm>
            <a:off x="5971579" y="4755207"/>
            <a:ext cx="248537" cy="310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4</a:t>
            </a:r>
            <a:endParaRPr lang="en-US" sz="1950" dirty="0"/>
          </a:p>
        </p:txBody>
      </p:sp>
      <p:sp>
        <p:nvSpPr>
          <p:cNvPr id="58" name="Text 22"/>
          <p:cNvSpPr/>
          <p:nvPr/>
        </p:nvSpPr>
        <p:spPr>
          <a:xfrm>
            <a:off x="7028084" y="4764782"/>
            <a:ext cx="444359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Phase 4 · Months 7–9</a:t>
            </a:r>
            <a:endParaRPr lang="en-US" sz="1600" dirty="0"/>
          </a:p>
        </p:txBody>
      </p:sp>
      <p:sp>
        <p:nvSpPr>
          <p:cNvPr id="59" name="Text 23"/>
          <p:cNvSpPr/>
          <p:nvPr/>
        </p:nvSpPr>
        <p:spPr>
          <a:xfrm>
            <a:off x="7028084" y="5125045"/>
            <a:ext cx="4443599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Enterprise-wide cutover, role-specific Human-in-the-Loop training, drift detection and SLA reporting.</a:t>
            </a:r>
            <a:endParaRPr lang="en-US" sz="1450" dirty="0"/>
          </a:p>
        </p:txBody>
      </p:sp>
      <p:sp>
        <p:nvSpPr>
          <p:cNvPr id="60" name="Shape 0"/>
          <p:cNvSpPr/>
          <p:nvPr/>
        </p:nvSpPr>
        <p:spPr>
          <a:xfrm>
            <a:off x="720012" y="476896"/>
            <a:ext cx="1526244" cy="28317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E14D"/>
            </a:solidFill>
            <a:prstDash val="solid"/>
          </a:ln>
        </p:spPr>
      </p:sp>
      <p:sp>
        <p:nvSpPr>
          <p:cNvPr id="61" name="Text 1"/>
          <p:cNvSpPr/>
          <p:nvPr/>
        </p:nvSpPr>
        <p:spPr>
          <a:xfrm>
            <a:off x="831829" y="532756"/>
            <a:ext cx="19121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PART 8: ROADMAP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34540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"/>
          <p:cNvSpPr/>
          <p:nvPr/>
        </p:nvSpPr>
        <p:spPr>
          <a:xfrm>
            <a:off x="720012" y="1059954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Risk Management &amp; Ethical AI Framework</a:t>
            </a:r>
            <a:endParaRPr lang="en-US" sz="355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12" y="1940024"/>
            <a:ext cx="5272948" cy="1858963"/>
          </a:xfrm>
          <a:prstGeom prst="rect">
            <a:avLst/>
          </a:prstGeom>
        </p:spPr>
      </p:pic>
      <p:sp>
        <p:nvSpPr>
          <p:cNvPr id="30" name="Text 3"/>
          <p:cNvSpPr/>
          <p:nvPr/>
        </p:nvSpPr>
        <p:spPr>
          <a:xfrm>
            <a:off x="1052685" y="2171105"/>
            <a:ext cx="470920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AI Hallucination — Critical</a:t>
            </a:r>
            <a:endParaRPr lang="en-US" sz="1750" dirty="0"/>
          </a:p>
        </p:txBody>
      </p:sp>
      <p:sp>
        <p:nvSpPr>
          <p:cNvPr id="31" name="Text 4"/>
          <p:cNvSpPr/>
          <p:nvPr/>
        </p:nvSpPr>
        <p:spPr>
          <a:xfrm>
            <a:off x="1052685" y="2580283"/>
            <a:ext cx="470920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Strict RAG grounding against verified archives; mandatory Human-in-the-Loop sign-off before any content publishes.</a:t>
            </a:r>
            <a:endParaRPr lang="en-US" sz="16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8636" y="1940024"/>
            <a:ext cx="5273047" cy="1858963"/>
          </a:xfrm>
          <a:prstGeom prst="rect">
            <a:avLst/>
          </a:prstGeom>
        </p:spPr>
      </p:pic>
      <p:sp>
        <p:nvSpPr>
          <p:cNvPr id="33" name="Text 5"/>
          <p:cNvSpPr/>
          <p:nvPr/>
        </p:nvSpPr>
        <p:spPr>
          <a:xfrm>
            <a:off x="6531308" y="2171105"/>
            <a:ext cx="47093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Privacy — High</a:t>
            </a:r>
            <a:endParaRPr lang="en-US" sz="1750" dirty="0"/>
          </a:p>
        </p:txBody>
      </p:sp>
      <p:sp>
        <p:nvSpPr>
          <p:cNvPr id="34" name="Text 6"/>
          <p:cNvSpPr/>
          <p:nvPr/>
        </p:nvSpPr>
        <p:spPr>
          <a:xfrm>
            <a:off x="6531308" y="2580283"/>
            <a:ext cx="4709300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Tenant-isolated Private Cloud PaaS with TLS 1.3 / AES-256 encryption; zero-retention policy preventing third-party ingestion.</a:t>
            </a:r>
            <a:endParaRPr lang="en-US" sz="160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12" y="4004667"/>
            <a:ext cx="5272948" cy="2188170"/>
          </a:xfrm>
          <a:prstGeom prst="rect">
            <a:avLst/>
          </a:prstGeom>
        </p:spPr>
      </p:pic>
      <p:sp>
        <p:nvSpPr>
          <p:cNvPr id="36" name="Text 7"/>
          <p:cNvSpPr/>
          <p:nvPr/>
        </p:nvSpPr>
        <p:spPr>
          <a:xfrm>
            <a:off x="1052685" y="4235748"/>
            <a:ext cx="470920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Workforce Adoption — High</a:t>
            </a:r>
            <a:endParaRPr lang="en-US" sz="1750" dirty="0"/>
          </a:p>
        </p:txBody>
      </p:sp>
      <p:sp>
        <p:nvSpPr>
          <p:cNvPr id="60" name="Text 8"/>
          <p:cNvSpPr/>
          <p:nvPr/>
        </p:nvSpPr>
        <p:spPr>
          <a:xfrm>
            <a:off x="1052685" y="4644926"/>
            <a:ext cx="4709201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Positioned as an </a:t>
            </a:r>
            <a:r>
              <a:rPr lang="en-US" sz="1600" i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"Augmented Workspace"</a:t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eliminating repetitive tasks, not replacing roles. Hands-on training and change management workshops.</a:t>
            </a:r>
            <a:endParaRPr lang="en-US" sz="1600" dirty="0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8636" y="4004667"/>
            <a:ext cx="5273047" cy="2188170"/>
          </a:xfrm>
          <a:prstGeom prst="rect">
            <a:avLst/>
          </a:prstGeom>
        </p:spPr>
      </p:pic>
      <p:sp>
        <p:nvSpPr>
          <p:cNvPr id="62" name="Text 9"/>
          <p:cNvSpPr/>
          <p:nvPr/>
        </p:nvSpPr>
        <p:spPr>
          <a:xfrm>
            <a:off x="6531308" y="4235748"/>
            <a:ext cx="4709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Editorial Bias &amp; Policy Drift — Medium</a:t>
            </a:r>
          </a:p>
        </p:txBody>
      </p:sp>
      <p:sp>
        <p:nvSpPr>
          <p:cNvPr id="63" name="Text 10"/>
          <p:cNvSpPr/>
          <p:nvPr/>
        </p:nvSpPr>
        <p:spPr>
          <a:xfrm>
            <a:off x="6531308" y="4644926"/>
            <a:ext cx="4709300" cy="1273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Supervised fine-tuning on stylebook </a:t>
            </a:r>
            <a:r>
              <a:rPr lang="en-US" sz="1600" dirty="0" smtClean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corpora</a:t>
            </a:r>
            <a:r>
              <a:rPr lang="en-US" sz="1600" dirty="0"/>
              <a:t>; </a:t>
            </a: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scheduled quarterly prompt and model weight re-calibrations. </a:t>
            </a:r>
          </a:p>
        </p:txBody>
      </p:sp>
      <p:sp>
        <p:nvSpPr>
          <p:cNvPr id="64" name="Shape 0"/>
          <p:cNvSpPr/>
          <p:nvPr/>
        </p:nvSpPr>
        <p:spPr>
          <a:xfrm>
            <a:off x="720012" y="516235"/>
            <a:ext cx="2552239" cy="312638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E14D"/>
            </a:solidFill>
            <a:prstDash val="solid"/>
          </a:ln>
        </p:spPr>
      </p:sp>
      <p:sp>
        <p:nvSpPr>
          <p:cNvPr id="65" name="Text 1"/>
          <p:cNvSpPr/>
          <p:nvPr/>
        </p:nvSpPr>
        <p:spPr>
          <a:xfrm>
            <a:off x="843437" y="577949"/>
            <a:ext cx="291497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PART 9: RISK &amp; GOVERNANCE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636138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2"/>
          <p:cNvSpPr/>
          <p:nvPr/>
        </p:nvSpPr>
        <p:spPr>
          <a:xfrm>
            <a:off x="720012" y="1032867"/>
            <a:ext cx="10751670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Strategic &amp; Operational KPI Dashboard</a:t>
            </a:r>
            <a:endParaRPr lang="en-US" sz="32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839" y="2064175"/>
            <a:ext cx="9423748" cy="3826909"/>
          </a:xfrm>
          <a:prstGeom prst="rect">
            <a:avLst/>
          </a:prstGeom>
        </p:spPr>
      </p:pic>
      <p:sp>
        <p:nvSpPr>
          <p:cNvPr id="22" name="Shape 0"/>
          <p:cNvSpPr/>
          <p:nvPr/>
        </p:nvSpPr>
        <p:spPr>
          <a:xfrm>
            <a:off x="720012" y="510551"/>
            <a:ext cx="1220755" cy="307839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E14D"/>
            </a:solidFill>
            <a:prstDash val="solid"/>
          </a:ln>
        </p:spPr>
      </p:sp>
      <p:sp>
        <p:nvSpPr>
          <p:cNvPr id="23" name="Text 1"/>
          <p:cNvSpPr/>
          <p:nvPr/>
        </p:nvSpPr>
        <p:spPr>
          <a:xfrm>
            <a:off x="829945" y="606490"/>
            <a:ext cx="961534" cy="15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PART 10: </a:t>
            </a:r>
            <a:r>
              <a:rPr lang="en-US" sz="1150" dirty="0" smtClean="0">
                <a:solidFill>
                  <a:srgbClr val="FFE14D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KPIs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982687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1007</Words>
  <Application>Microsoft Office PowerPoint</Application>
  <PresentationFormat>Widescreen</PresentationFormat>
  <Paragraphs>140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Comfortaa Bold</vt:lpstr>
      <vt:lpstr>Inter</vt:lpstr>
      <vt:lpstr>Plus Jakarta Sans</vt:lpstr>
      <vt:lpstr>Raleway 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29</cp:revision>
  <dcterms:created xsi:type="dcterms:W3CDTF">2026-08-23T06:51:28Z</dcterms:created>
  <dcterms:modified xsi:type="dcterms:W3CDTF">2026-09-21T11:37:25Z</dcterms:modified>
</cp:coreProperties>
</file>